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C1343-7D26-4A6B-BBAD-B19561F21499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E9DAE-8E34-4C21-A8E0-B8ECB410FD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4633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>
            <a:lvl1pPr>
              <a:buClr>
                <a:schemeClr val="accent1">
                  <a:lumMod val="75000"/>
                </a:schemeClr>
              </a:buClr>
              <a:defRPr/>
            </a:lvl1pPr>
            <a:lvl2pPr>
              <a:buClr>
                <a:schemeClr val="accent1">
                  <a:lumMod val="75000"/>
                </a:schemeClr>
              </a:buClr>
              <a:defRPr/>
            </a:lvl2pPr>
            <a:lvl3pPr>
              <a:buClr>
                <a:schemeClr val="accent1">
                  <a:lumMod val="75000"/>
                </a:schemeClr>
              </a:buClr>
              <a:defRPr/>
            </a:lvl3pPr>
            <a:lvl4pPr>
              <a:buClr>
                <a:schemeClr val="accent1">
                  <a:lumMod val="75000"/>
                </a:schemeClr>
              </a:buClr>
              <a:defRPr/>
            </a:lvl4pPr>
            <a:lvl5pPr>
              <a:buClr>
                <a:schemeClr val="accent1">
                  <a:lumMod val="75000"/>
                </a:schemeClr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C1343-7D26-4A6B-BBAD-B19561F21499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600E9DAE-8E34-4C21-A8E0-B8ECB410FD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0490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C1343-7D26-4A6B-BBAD-B19561F21499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E9DAE-8E34-4C21-A8E0-B8ECB410FD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983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C1343-7D26-4A6B-BBAD-B19561F21499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E9DAE-8E34-4C21-A8E0-B8ECB410FD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7913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C1343-7D26-4A6B-BBAD-B19561F21499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E9DAE-8E34-4C21-A8E0-B8ECB410FD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9816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C1343-7D26-4A6B-BBAD-B19561F21499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E9DAE-8E34-4C21-A8E0-B8ECB410FD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603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C1343-7D26-4A6B-BBAD-B19561F21499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E9DAE-8E34-4C21-A8E0-B8ECB410FD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5707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C1343-7D26-4A6B-BBAD-B19561F21499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E9DAE-8E34-4C21-A8E0-B8ECB410FD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7119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C1343-7D26-4A6B-BBAD-B19561F21499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E9DAE-8E34-4C21-A8E0-B8ECB410FD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1261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C1343-7D26-4A6B-BBAD-B19561F21499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E9DAE-8E34-4C21-A8E0-B8ECB410FD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1575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C1343-7D26-4A6B-BBAD-B19561F21499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E9DAE-8E34-4C21-A8E0-B8ECB410FD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30112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C1343-7D26-4A6B-BBAD-B19561F21499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E9DAE-8E34-4C21-A8E0-B8ECB410FD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68451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C1343-7D26-4A6B-BBAD-B19561F21499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E9DAE-8E34-4C21-A8E0-B8ECB410FD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00102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C1343-7D26-4A6B-BBAD-B19561F21499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E9DAE-8E34-4C21-A8E0-B8ECB410FD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09636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C1343-7D26-4A6B-BBAD-B19561F21499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E9DAE-8E34-4C21-A8E0-B8ECB410FD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32507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C1343-7D26-4A6B-BBAD-B19561F21499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E9DAE-8E34-4C21-A8E0-B8ECB410FD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15471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C1343-7D26-4A6B-BBAD-B19561F21499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E9DAE-8E34-4C21-A8E0-B8ECB410FD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2136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00C1343-7D26-4A6B-BBAD-B19561F21499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00E9DAE-8E34-4C21-A8E0-B8ECB410FD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5837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B81FC-D594-4EA6-083C-F152F244AC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28400" y="812801"/>
            <a:ext cx="8574622" cy="2616199"/>
          </a:xfrm>
        </p:spPr>
        <p:txBody>
          <a:bodyPr>
            <a:noAutofit/>
          </a:bodyPr>
          <a:lstStyle/>
          <a:p>
            <a:r>
              <a:rPr lang="en-US" sz="3600" b="1" dirty="0"/>
              <a:t>Global Superstore: Sales &amp; Profit Analysis</a:t>
            </a:r>
            <a:br>
              <a:rPr lang="en-US" sz="3600" dirty="0"/>
            </a:br>
            <a:r>
              <a:rPr lang="en-US" sz="3600" i="1" dirty="0"/>
              <a:t>Exploratory Data Analysis &amp; Business Insights</a:t>
            </a:r>
            <a:endParaRPr lang="en-IN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7C0CB8-0728-E02B-8FB4-A8956C4B5C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11682" y="3628621"/>
            <a:ext cx="6987645" cy="1388534"/>
          </a:xfrm>
        </p:spPr>
        <p:txBody>
          <a:bodyPr/>
          <a:lstStyle/>
          <a:p>
            <a:r>
              <a:rPr lang="en-IN" b="1" dirty="0"/>
              <a:t>Author:</a:t>
            </a:r>
            <a:r>
              <a:rPr lang="en-IN" dirty="0"/>
              <a:t> Sagnik Bhattacharya</a:t>
            </a:r>
            <a:br>
              <a:rPr lang="en-IN" dirty="0"/>
            </a:br>
            <a:r>
              <a:rPr lang="en-IN" b="1" dirty="0"/>
              <a:t>Tools:</a:t>
            </a:r>
            <a:r>
              <a:rPr lang="en-IN" dirty="0"/>
              <a:t> Python · SQL (MySQL) · Excel</a:t>
            </a:r>
            <a:br>
              <a:rPr lang="en-IN" dirty="0"/>
            </a:br>
            <a:r>
              <a:rPr lang="en-IN" b="1" dirty="0"/>
              <a:t>Dataset:</a:t>
            </a:r>
            <a:r>
              <a:rPr lang="en-IN" dirty="0"/>
              <a:t> Global Superstore (Kaggle)</a:t>
            </a:r>
          </a:p>
        </p:txBody>
      </p:sp>
    </p:spTree>
    <p:extLst>
      <p:ext uri="{BB962C8B-B14F-4D97-AF65-F5344CB8AC3E}">
        <p14:creationId xmlns:p14="http://schemas.microsoft.com/office/powerpoint/2010/main" val="1748054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356DB-0423-71D3-5F26-CFC735C7E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latin typeface="Arial Black" panose="020B0A04020102020204" pitchFamily="34" charset="0"/>
              </a:rPr>
              <a:t>BUSINESS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00F78-2D6A-263E-28EB-2B3383F5A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Arial Black" panose="020B0A04020102020204" pitchFamily="34" charset="0"/>
              </a:rPr>
              <a:t>Objective of the Analysis</a:t>
            </a:r>
          </a:p>
          <a:p>
            <a:r>
              <a:rPr lang="en-US" dirty="0"/>
              <a:t>Understand sales and profit drivers across products, regions, and customers</a:t>
            </a:r>
          </a:p>
          <a:p>
            <a:r>
              <a:rPr lang="en-US" dirty="0"/>
              <a:t>Identify loss-making areas and operational inefficiencies</a:t>
            </a:r>
          </a:p>
          <a:p>
            <a:r>
              <a:rPr lang="en-US" dirty="0"/>
              <a:t>Provide data-driven recommendations to improve profitability</a:t>
            </a:r>
          </a:p>
        </p:txBody>
      </p:sp>
    </p:spTree>
    <p:extLst>
      <p:ext uri="{BB962C8B-B14F-4D97-AF65-F5344CB8AC3E}">
        <p14:creationId xmlns:p14="http://schemas.microsoft.com/office/powerpoint/2010/main" val="3447893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24BEB-43EE-F027-247A-8147178B8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latin typeface="Arial Black" panose="020B0A04020102020204" pitchFamily="34" charset="0"/>
              </a:rPr>
              <a:t>DATASET SNAPSHOT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C9AF6-863C-6D81-2FA7-1145DE63E3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Arial Black" panose="020B0A04020102020204" pitchFamily="34" charset="0"/>
              </a:rPr>
              <a:t>Dataset Overview</a:t>
            </a:r>
          </a:p>
          <a:p>
            <a:r>
              <a:rPr lang="en-US" dirty="0"/>
              <a:t>51,000+ transaction records</a:t>
            </a:r>
          </a:p>
          <a:p>
            <a:r>
              <a:rPr lang="en-US" dirty="0"/>
              <a:t>Multiple countries, regions, and markets</a:t>
            </a:r>
          </a:p>
          <a:p>
            <a:r>
              <a:rPr lang="en-US" dirty="0"/>
              <a:t>Product categories, customer segments, and shipping modes</a:t>
            </a:r>
          </a:p>
          <a:p>
            <a:r>
              <a:rPr lang="en-US" dirty="0"/>
              <a:t>Sales, profit, discounts, and operational costs</a:t>
            </a:r>
          </a:p>
        </p:txBody>
      </p:sp>
    </p:spTree>
    <p:extLst>
      <p:ext uri="{BB962C8B-B14F-4D97-AF65-F5344CB8AC3E}">
        <p14:creationId xmlns:p14="http://schemas.microsoft.com/office/powerpoint/2010/main" val="1368664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A9952-37ED-3F06-DFAC-17D200769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Arial Black" panose="020B0A04020102020204" pitchFamily="34" charset="0"/>
              </a:rPr>
              <a:t>KPI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CB54C-A707-7D77-976C-7421AB0D2D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Arial Black" panose="020B0A04020102020204" pitchFamily="34" charset="0"/>
              </a:rPr>
              <a:t>Key Business Metrics</a:t>
            </a:r>
            <a:endParaRPr lang="en-US" dirty="0">
              <a:latin typeface="Arial Black" panose="020B0A04020102020204" pitchFamily="34" charset="0"/>
            </a:endParaRPr>
          </a:p>
          <a:p>
            <a:r>
              <a:rPr lang="en-US" dirty="0"/>
              <a:t>Total Sales</a:t>
            </a:r>
          </a:p>
          <a:p>
            <a:r>
              <a:rPr lang="en-US" dirty="0"/>
              <a:t>Total Profit</a:t>
            </a:r>
          </a:p>
          <a:p>
            <a:r>
              <a:rPr lang="en-US" dirty="0"/>
              <a:t>Profit Margin</a:t>
            </a:r>
          </a:p>
          <a:p>
            <a:r>
              <a:rPr lang="en-US" dirty="0"/>
              <a:t>Total Orders</a:t>
            </a:r>
          </a:p>
          <a:p>
            <a:r>
              <a:rPr lang="en-US" dirty="0"/>
              <a:t>Unique Customers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085967-7721-17EE-9227-9D53B0A925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1573" y="2666999"/>
            <a:ext cx="6091450" cy="312420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2908664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2ED64-477A-ED88-F072-EC91FADD7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latin typeface="Arial Black" panose="020B0A04020102020204" pitchFamily="34" charset="0"/>
              </a:rPr>
              <a:t>SALES &amp; PROFIT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AA93F-1B11-D3CD-7C05-6BB7030028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Arial Black" panose="020B0A04020102020204" pitchFamily="34" charset="0"/>
              </a:rPr>
              <a:t>Sales &amp; Profit Over Time</a:t>
            </a:r>
            <a:endParaRPr lang="en-US" dirty="0">
              <a:latin typeface="Arial Black" panose="020B0A04020102020204" pitchFamily="34" charset="0"/>
            </a:endParaRPr>
          </a:p>
          <a:p>
            <a:r>
              <a:rPr lang="en-US" dirty="0"/>
              <a:t>Sales show steady growth across years</a:t>
            </a:r>
          </a:p>
          <a:p>
            <a:r>
              <a:rPr lang="en-US" dirty="0"/>
              <a:t>Profit displays higher volatility compared to sales</a:t>
            </a:r>
          </a:p>
          <a:p>
            <a:pPr marL="0" indent="0">
              <a:buNone/>
            </a:pPr>
            <a:r>
              <a:rPr lang="en-US" b="1" dirty="0">
                <a:latin typeface="Arial Black" panose="020B0A04020102020204" pitchFamily="34" charset="0"/>
              </a:rPr>
              <a:t>Insight: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/>
              <a:t>Sales growth does not always translate into profit growth due to discounts and shipping costs.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149DC8-24A8-9889-DDFF-142F261FB5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4018" y="2545237"/>
            <a:ext cx="3756409" cy="207389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391830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F8852-7D6D-58E5-E2A4-601684CB5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 Black" panose="020B0A04020102020204" pitchFamily="34" charset="0"/>
              </a:rPr>
              <a:t>CATEGORY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E6621-8E0F-C03E-D7A6-1B497FDC3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1505" y="2714134"/>
            <a:ext cx="7197777" cy="304564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latin typeface="Arial Black" panose="020B0A04020102020204" pitchFamily="34" charset="0"/>
              </a:rPr>
              <a:t>Category-Level Performance</a:t>
            </a:r>
            <a:endParaRPr lang="en-US" dirty="0">
              <a:latin typeface="Arial Black" panose="020B0A04020102020204" pitchFamily="34" charset="0"/>
            </a:endParaRPr>
          </a:p>
          <a:p>
            <a:r>
              <a:rPr lang="en-US" dirty="0"/>
              <a:t>Technology and Office Supplies drive majority of profit</a:t>
            </a:r>
          </a:p>
          <a:p>
            <a:r>
              <a:rPr lang="en-US" dirty="0"/>
              <a:t>Furniture category consistently underperforms</a:t>
            </a:r>
          </a:p>
          <a:p>
            <a:pPr marL="0" indent="0">
              <a:buNone/>
            </a:pPr>
            <a:r>
              <a:rPr lang="en-US" b="1" dirty="0">
                <a:latin typeface="Arial Black" panose="020B0A04020102020204" pitchFamily="34" charset="0"/>
              </a:rPr>
              <a:t>Insight:</a:t>
            </a:r>
            <a:br>
              <a:rPr lang="en-US" dirty="0"/>
            </a:br>
            <a:r>
              <a:rPr lang="en-US" dirty="0"/>
              <a:t>Furniture contributes high sales but weak profitability, indicating pricing or cost issues.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1771A3-C9E4-4FF5-D4D1-EDE456FB1E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7368" y="2438399"/>
            <a:ext cx="3930978" cy="228118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471659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54930-3449-0A32-3050-26ECCF18E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 Black" panose="020B0A04020102020204" pitchFamily="34" charset="0"/>
              </a:rPr>
              <a:t>REGIONAL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4CD2F-1A91-ABBE-628E-8E332E4295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2666999"/>
            <a:ext cx="6179682" cy="3007937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>
                <a:latin typeface="Arial Black" panose="020B0A04020102020204" pitchFamily="34" charset="0"/>
              </a:rPr>
              <a:t>Geographic Performance</a:t>
            </a:r>
            <a:endParaRPr lang="en-US" dirty="0">
              <a:latin typeface="Arial Black" panose="020B0A04020102020204" pitchFamily="34" charset="0"/>
            </a:endParaRPr>
          </a:p>
          <a:p>
            <a:r>
              <a:rPr lang="en-US" dirty="0"/>
              <a:t>Certain regions generate strong sales volumes</a:t>
            </a:r>
          </a:p>
          <a:p>
            <a:r>
              <a:rPr lang="en-US" dirty="0"/>
              <a:t>Some regions exhibit low or negative profit margins</a:t>
            </a:r>
          </a:p>
          <a:p>
            <a:pPr marL="0" indent="0">
              <a:buNone/>
            </a:pPr>
            <a:r>
              <a:rPr lang="en-US" b="1" dirty="0">
                <a:latin typeface="Arial Black" panose="020B0A04020102020204" pitchFamily="34" charset="0"/>
              </a:rPr>
              <a:t>Insight: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/>
              <a:t>High sales regions with low profit indicate potential discount or logistics inefficiencies.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DF85F4-E256-8A60-05B0-954161583B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7218" y="2217887"/>
            <a:ext cx="4546862" cy="24222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863756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1B5E4-CC2E-94C7-C358-91E05D228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 Black" panose="020B0A04020102020204" pitchFamily="34" charset="0"/>
              </a:rPr>
              <a:t>CUSTOMER &amp; SEGMENT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19F64-35A5-5C47-C897-6BE48756B2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666999"/>
            <a:ext cx="6094841" cy="312420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Arial Black" panose="020B0A04020102020204" pitchFamily="34" charset="0"/>
              </a:rPr>
              <a:t>Customer &amp; Segment Contribution</a:t>
            </a:r>
            <a:endParaRPr lang="en-US" dirty="0">
              <a:latin typeface="Arial Black" panose="020B0A04020102020204" pitchFamily="34" charset="0"/>
            </a:endParaRPr>
          </a:p>
          <a:p>
            <a:r>
              <a:rPr lang="en-US" dirty="0"/>
              <a:t>Corporate and Consumer segments dominate revenue</a:t>
            </a:r>
          </a:p>
          <a:p>
            <a:r>
              <a:rPr lang="en-US" dirty="0"/>
              <a:t>Revenue is concentrated among a small group of customers</a:t>
            </a:r>
          </a:p>
          <a:p>
            <a:pPr marL="0" indent="0">
              <a:buNone/>
            </a:pPr>
            <a:r>
              <a:rPr lang="en-US" b="1" dirty="0">
                <a:latin typeface="Arial Black" panose="020B0A04020102020204" pitchFamily="34" charset="0"/>
              </a:rPr>
              <a:t>Insight:</a:t>
            </a:r>
            <a:br>
              <a:rPr lang="en-US" dirty="0"/>
            </a:br>
            <a:r>
              <a:rPr lang="en-US" dirty="0"/>
              <a:t>A minority of customers contributes a disproportionate share of total revenue (Pareto effect).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EC7C60-E7C8-7934-0385-05BEA0D44E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9151" y="2760631"/>
            <a:ext cx="4206605" cy="227328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5047942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DD095-2B7F-9984-E00F-342AE32D9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 Black" panose="020B0A04020102020204" pitchFamily="34" charset="0"/>
              </a:rPr>
              <a:t>DISCOUNT &amp; SHIPPING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2D1C6-AD5E-015E-A753-1D39338B8F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666999"/>
            <a:ext cx="5868597" cy="312420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latin typeface="Arial Black" panose="020B0A04020102020204" pitchFamily="34" charset="0"/>
              </a:rPr>
              <a:t>Operational Cost Analysis</a:t>
            </a:r>
            <a:endParaRPr lang="en-US" dirty="0">
              <a:latin typeface="Arial Black" panose="020B0A04020102020204" pitchFamily="34" charset="0"/>
            </a:endParaRPr>
          </a:p>
          <a:p>
            <a:r>
              <a:rPr lang="en-US" dirty="0"/>
              <a:t>Higher discounts significantly reduce profit margins</a:t>
            </a:r>
          </a:p>
          <a:p>
            <a:r>
              <a:rPr lang="en-US" dirty="0"/>
              <a:t>Same Day shipping incurs higher costs with lower profitability</a:t>
            </a:r>
          </a:p>
          <a:p>
            <a:pPr marL="0" indent="0">
              <a:buNone/>
            </a:pPr>
            <a:r>
              <a:rPr lang="en-US" b="1" dirty="0">
                <a:latin typeface="Arial Black" panose="020B0A04020102020204" pitchFamily="34" charset="0"/>
              </a:rPr>
              <a:t>Insight: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/>
              <a:t>Aggressive discounting and fast shipping erode margins without proportional sales gains.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B6EC9C-F7BD-73FD-D9DA-3BE2961D5B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8562" y="2590553"/>
            <a:ext cx="4366638" cy="23868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3710405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C1B5A-54C4-3236-A468-ECF5895A8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 Black" panose="020B0A04020102020204" pitchFamily="34" charset="0"/>
              </a:rPr>
              <a:t>DASHBOARD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3C092-82C3-9662-60FD-246D6111FA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2666999"/>
            <a:ext cx="5246428" cy="312420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latin typeface="Arial Black" panose="020B0A04020102020204" pitchFamily="34" charset="0"/>
              </a:rPr>
              <a:t>Interactive Dashboard</a:t>
            </a:r>
            <a:endParaRPr lang="en-US" dirty="0">
              <a:latin typeface="Arial Black" panose="020B0A04020102020204" pitchFamily="34" charset="0"/>
            </a:endParaRPr>
          </a:p>
          <a:p>
            <a:r>
              <a:rPr lang="en-US" dirty="0"/>
              <a:t>KPI cards for key metrics</a:t>
            </a:r>
          </a:p>
          <a:p>
            <a:r>
              <a:rPr lang="en-US" dirty="0"/>
              <a:t>Trend charts for sales and profit</a:t>
            </a:r>
          </a:p>
          <a:p>
            <a:r>
              <a:rPr lang="en-US" dirty="0"/>
              <a:t>Slicers for Year, Region, Category, Segment, and Shipping Mode</a:t>
            </a:r>
          </a:p>
          <a:p>
            <a:r>
              <a:rPr lang="en-US" i="1" dirty="0"/>
              <a:t>(Designed for dynamic business exploration)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C07C9C-8D5E-1DB7-C0B6-0062AF20D3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1733" y="2598655"/>
            <a:ext cx="5246428" cy="269080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6519905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CCB2E-D289-7B2C-195C-23E8EBC0D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 Black" panose="020B0A04020102020204" pitchFamily="34" charset="0"/>
              </a:rPr>
              <a:t>BUSINESS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EFE12-B0E1-AC66-84E5-A51B007FCC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Arial Black" panose="020B0A04020102020204" pitchFamily="34" charset="0"/>
              </a:rPr>
              <a:t>Actionable Recommendations</a:t>
            </a:r>
            <a:endParaRPr lang="en-US" dirty="0">
              <a:latin typeface="Arial Black" panose="020B0A04020102020204" pitchFamily="34" charset="0"/>
            </a:endParaRPr>
          </a:p>
          <a:p>
            <a:r>
              <a:rPr lang="en-US" dirty="0"/>
              <a:t>Optimize discount strategies to protect margins</a:t>
            </a:r>
          </a:p>
          <a:p>
            <a:r>
              <a:rPr lang="en-US" dirty="0"/>
              <a:t>Re-evaluate loss-making products and sub-categories</a:t>
            </a:r>
          </a:p>
          <a:p>
            <a:r>
              <a:rPr lang="en-US" dirty="0"/>
              <a:t>Focus on high-value customer segments</a:t>
            </a:r>
          </a:p>
          <a:p>
            <a:r>
              <a:rPr lang="en-US" dirty="0"/>
              <a:t>Reduce reliance on high-cost shipping modes</a:t>
            </a:r>
          </a:p>
          <a:p>
            <a:r>
              <a:rPr lang="en-US" dirty="0"/>
              <a:t>Apply region-specific pricing strategies</a:t>
            </a:r>
          </a:p>
        </p:txBody>
      </p:sp>
    </p:spTree>
    <p:extLst>
      <p:ext uri="{BB962C8B-B14F-4D97-AF65-F5344CB8AC3E}">
        <p14:creationId xmlns:p14="http://schemas.microsoft.com/office/powerpoint/2010/main" val="24822020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06210-7083-21E8-10F9-85F0BB813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 Black" panose="020B0A04020102020204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24718-AEA1-1A28-6719-E0AB326E9C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Identified key profitability and operational drivers</a:t>
            </a:r>
          </a:p>
          <a:p>
            <a:r>
              <a:rPr lang="en-US" dirty="0"/>
              <a:t>Translated data insights into actionable recommendations</a:t>
            </a:r>
          </a:p>
          <a:p>
            <a:r>
              <a:rPr lang="en-US" dirty="0"/>
              <a:t>Demonstrated end-to-end data analytics skills</a:t>
            </a:r>
          </a:p>
          <a:p>
            <a:pPr marL="0" indent="0" algn="r">
              <a:buNone/>
            </a:pPr>
            <a:r>
              <a:rPr lang="en-US" dirty="0">
                <a:latin typeface="Arial Black" panose="020B0A040201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924095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EB8F22"/>
      </a:accent1>
      <a:accent2>
        <a:srgbClr val="CD4223"/>
      </a:accent2>
      <a:accent3>
        <a:srgbClr val="A89374"/>
      </a:accent3>
      <a:accent4>
        <a:srgbClr val="83AA67"/>
      </a:accent4>
      <a:accent5>
        <a:srgbClr val="4FA9C1"/>
      </a:accent5>
      <a:accent6>
        <a:srgbClr val="9390AF"/>
      </a:accent6>
      <a:hlink>
        <a:srgbClr val="EC7220"/>
      </a:hlink>
      <a:folHlink>
        <a:srgbClr val="F09355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EBEC8F79-A447-43FC-8E81-85E8468AF3F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20</TotalTime>
  <Words>386</Words>
  <Application>Microsoft Office PowerPoint</Application>
  <PresentationFormat>Widescreen</PresentationFormat>
  <Paragraphs>63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Arial Black</vt:lpstr>
      <vt:lpstr>Corbel</vt:lpstr>
      <vt:lpstr>Parallax</vt:lpstr>
      <vt:lpstr>Global Superstore: Sales &amp; Profit Analysis Exploratory Data Analysis &amp; Business Insights</vt:lpstr>
      <vt:lpstr>BUSINESS OBJECTIVE</vt:lpstr>
      <vt:lpstr>DATASET SNAPSHOT</vt:lpstr>
      <vt:lpstr>KPI OVERVIEW</vt:lpstr>
      <vt:lpstr>SALES &amp; PROFIT TRENDS</vt:lpstr>
      <vt:lpstr>CATEGORY PERFORMANCE</vt:lpstr>
      <vt:lpstr>REGIONAL INSIGHTS</vt:lpstr>
      <vt:lpstr>CUSTOMER &amp; SEGMENT ANALYSIS</vt:lpstr>
      <vt:lpstr>DISCOUNT &amp; SHIPPING IMPACT</vt:lpstr>
      <vt:lpstr>DASHBOARD OVERVIEW</vt:lpstr>
      <vt:lpstr>BUSINESS RECOMMENDATIONS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DELL</cp:lastModifiedBy>
  <cp:revision>1</cp:revision>
  <dcterms:created xsi:type="dcterms:W3CDTF">2025-12-27T09:46:18Z</dcterms:created>
  <dcterms:modified xsi:type="dcterms:W3CDTF">2025-12-27T10:06:40Z</dcterms:modified>
</cp:coreProperties>
</file>